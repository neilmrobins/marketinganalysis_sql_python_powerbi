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0" r:id="rId1"/>
  </p:sldMasterIdLst>
  <p:sldIdLst>
    <p:sldId id="256" r:id="rId2"/>
    <p:sldId id="257" r:id="rId3"/>
    <p:sldId id="259" r:id="rId4"/>
    <p:sldId id="258" r:id="rId5"/>
    <p:sldId id="261" r:id="rId6"/>
    <p:sldId id="262" r:id="rId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7B6210-BCE9-4576-A654-2DAB30B78970}" v="6" dt="2026-03-06T08:37:39.9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89" autoAdjust="0"/>
    <p:restoredTop sz="96236" autoAdjust="0"/>
  </p:normalViewPr>
  <p:slideViewPr>
    <p:cSldViewPr snapToGrid="0">
      <p:cViewPr>
        <p:scale>
          <a:sx n="120" d="100"/>
          <a:sy n="120" d="100"/>
        </p:scale>
        <p:origin x="534" y="-3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13"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microsoft.com/office/2016/11/relationships/changesInfo" Target="changesInfos/changesInfo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eil Robins" userId="4150c76180ca2643" providerId="LiveId" clId="{4AEC34A0-B88D-4B80-8525-DC585E77A2A2}"/>
    <pc:docChg chg="undo custSel modSld">
      <pc:chgData name="Neil Robins" userId="4150c76180ca2643" providerId="LiveId" clId="{4AEC34A0-B88D-4B80-8525-DC585E77A2A2}" dt="2026-03-06T10:01:13.601" v="2748" actId="404"/>
      <pc:docMkLst>
        <pc:docMk/>
      </pc:docMkLst>
      <pc:sldChg chg="modSp mod">
        <pc:chgData name="Neil Robins" userId="4150c76180ca2643" providerId="LiveId" clId="{4AEC34A0-B88D-4B80-8525-DC585E77A2A2}" dt="2026-03-06T09:47:08.212" v="2438" actId="20577"/>
        <pc:sldMkLst>
          <pc:docMk/>
          <pc:sldMk cId="2515083719" sldId="257"/>
        </pc:sldMkLst>
        <pc:spChg chg="mod">
          <ac:chgData name="Neil Robins" userId="4150c76180ca2643" providerId="LiveId" clId="{4AEC34A0-B88D-4B80-8525-DC585E77A2A2}" dt="2026-03-06T09:47:08.212" v="2438" actId="20577"/>
          <ac:spMkLst>
            <pc:docMk/>
            <pc:sldMk cId="2515083719" sldId="257"/>
            <ac:spMk id="4" creationId="{E14306C0-546A-60F1-F05E-BED638FBB9EB}"/>
          </ac:spMkLst>
        </pc:spChg>
        <pc:spChg chg="mod">
          <ac:chgData name="Neil Robins" userId="4150c76180ca2643" providerId="LiveId" clId="{4AEC34A0-B88D-4B80-8525-DC585E77A2A2}" dt="2026-03-06T09:46:08.759" v="2424" actId="20577"/>
          <ac:spMkLst>
            <pc:docMk/>
            <pc:sldMk cId="2515083719" sldId="257"/>
            <ac:spMk id="6" creationId="{63336F16-91A5-5CAF-84F3-64F6D6DE9D0D}"/>
          </ac:spMkLst>
        </pc:spChg>
        <pc:spChg chg="mod">
          <ac:chgData name="Neil Robins" userId="4150c76180ca2643" providerId="LiveId" clId="{4AEC34A0-B88D-4B80-8525-DC585E77A2A2}" dt="2026-03-06T08:10:09.648" v="2" actId="14100"/>
          <ac:spMkLst>
            <pc:docMk/>
            <pc:sldMk cId="2515083719" sldId="257"/>
            <ac:spMk id="13" creationId="{DB459B85-8FF8-3F68-F083-4F22D9FF99A0}"/>
          </ac:spMkLst>
        </pc:spChg>
        <pc:spChg chg="mod">
          <ac:chgData name="Neil Robins" userId="4150c76180ca2643" providerId="LiveId" clId="{4AEC34A0-B88D-4B80-8525-DC585E77A2A2}" dt="2026-03-06T08:23:57.485" v="396" actId="14100"/>
          <ac:spMkLst>
            <pc:docMk/>
            <pc:sldMk cId="2515083719" sldId="257"/>
            <ac:spMk id="14" creationId="{622A03A8-9FE6-D649-8831-F488E4DEDF7E}"/>
          </ac:spMkLst>
        </pc:spChg>
      </pc:sldChg>
      <pc:sldChg chg="addSp delSp modSp mod">
        <pc:chgData name="Neil Robins" userId="4150c76180ca2643" providerId="LiveId" clId="{4AEC34A0-B88D-4B80-8525-DC585E77A2A2}" dt="2026-03-06T09:41:24.477" v="2313" actId="20577"/>
        <pc:sldMkLst>
          <pc:docMk/>
          <pc:sldMk cId="333086832" sldId="258"/>
        </pc:sldMkLst>
        <pc:spChg chg="mod">
          <ac:chgData name="Neil Robins" userId="4150c76180ca2643" providerId="LiveId" clId="{4AEC34A0-B88D-4B80-8525-DC585E77A2A2}" dt="2026-03-06T09:41:24.477" v="2313" actId="20577"/>
          <ac:spMkLst>
            <pc:docMk/>
            <pc:sldMk cId="333086832" sldId="258"/>
            <ac:spMk id="3" creationId="{864EEEC7-BFE3-E8A1-062C-F7A682CE01AD}"/>
          </ac:spMkLst>
        </pc:spChg>
        <pc:picChg chg="add mod ord modCrop">
          <ac:chgData name="Neil Robins" userId="4150c76180ca2643" providerId="LiveId" clId="{4AEC34A0-B88D-4B80-8525-DC585E77A2A2}" dt="2026-03-06T09:27:00.291" v="1746" actId="732"/>
          <ac:picMkLst>
            <pc:docMk/>
            <pc:sldMk cId="333086832" sldId="258"/>
            <ac:picMk id="5" creationId="{EB004ECB-46DD-F866-13CA-E5960A43C503}"/>
          </ac:picMkLst>
        </pc:picChg>
        <pc:picChg chg="del">
          <ac:chgData name="Neil Robins" userId="4150c76180ca2643" providerId="LiveId" clId="{4AEC34A0-B88D-4B80-8525-DC585E77A2A2}" dt="2026-03-06T09:24:00.557" v="1643" actId="478"/>
          <ac:picMkLst>
            <pc:docMk/>
            <pc:sldMk cId="333086832" sldId="258"/>
            <ac:picMk id="6" creationId="{AA51A6C3-8D7F-42D5-A580-31B5CCF978A2}"/>
          </ac:picMkLst>
        </pc:picChg>
        <pc:picChg chg="del">
          <ac:chgData name="Neil Robins" userId="4150c76180ca2643" providerId="LiveId" clId="{4AEC34A0-B88D-4B80-8525-DC585E77A2A2}" dt="2026-03-06T09:25:00.379" v="1731" actId="478"/>
          <ac:picMkLst>
            <pc:docMk/>
            <pc:sldMk cId="333086832" sldId="258"/>
            <ac:picMk id="8" creationId="{E1183400-4357-3720-F656-7CDAD9955152}"/>
          </ac:picMkLst>
        </pc:picChg>
        <pc:picChg chg="add mod modCrop">
          <ac:chgData name="Neil Robins" userId="4150c76180ca2643" providerId="LiveId" clId="{4AEC34A0-B88D-4B80-8525-DC585E77A2A2}" dt="2026-03-06T09:25:48.288" v="1739" actId="732"/>
          <ac:picMkLst>
            <pc:docMk/>
            <pc:sldMk cId="333086832" sldId="258"/>
            <ac:picMk id="10" creationId="{255CDF65-0DE2-05F1-5EBA-32201A750144}"/>
          </ac:picMkLst>
        </pc:picChg>
        <pc:cxnChg chg="mod">
          <ac:chgData name="Neil Robins" userId="4150c76180ca2643" providerId="LiveId" clId="{4AEC34A0-B88D-4B80-8525-DC585E77A2A2}" dt="2026-03-06T09:24:22.205" v="1726" actId="1036"/>
          <ac:cxnSpMkLst>
            <pc:docMk/>
            <pc:sldMk cId="333086832" sldId="258"/>
            <ac:cxnSpMk id="9" creationId="{1F4F75BE-DDC1-8FDE-9EA6-5BAC6391EC05}"/>
          </ac:cxnSpMkLst>
        </pc:cxnChg>
      </pc:sldChg>
      <pc:sldChg chg="addSp delSp modSp mod">
        <pc:chgData name="Neil Robins" userId="4150c76180ca2643" providerId="LiveId" clId="{4AEC34A0-B88D-4B80-8525-DC585E77A2A2}" dt="2026-03-06T09:01:51.322" v="1615" actId="20577"/>
        <pc:sldMkLst>
          <pc:docMk/>
          <pc:sldMk cId="1244894969" sldId="259"/>
        </pc:sldMkLst>
        <pc:spChg chg="mod">
          <ac:chgData name="Neil Robins" userId="4150c76180ca2643" providerId="LiveId" clId="{4AEC34A0-B88D-4B80-8525-DC585E77A2A2}" dt="2026-03-06T08:38:09.730" v="528" actId="6549"/>
          <ac:spMkLst>
            <pc:docMk/>
            <pc:sldMk cId="1244894969" sldId="259"/>
            <ac:spMk id="2" creationId="{1FE24B03-AA3A-063B-47A9-E6D9E66527A3}"/>
          </ac:spMkLst>
        </pc:spChg>
        <pc:spChg chg="mod">
          <ac:chgData name="Neil Robins" userId="4150c76180ca2643" providerId="LiveId" clId="{4AEC34A0-B88D-4B80-8525-DC585E77A2A2}" dt="2026-03-06T09:01:51.322" v="1615" actId="20577"/>
          <ac:spMkLst>
            <pc:docMk/>
            <pc:sldMk cId="1244894969" sldId="259"/>
            <ac:spMk id="3" creationId="{4F670CE0-1CA8-715A-00A3-F38DAB303988}"/>
          </ac:spMkLst>
        </pc:spChg>
        <pc:spChg chg="mod">
          <ac:chgData name="Neil Robins" userId="4150c76180ca2643" providerId="LiveId" clId="{4AEC34A0-B88D-4B80-8525-DC585E77A2A2}" dt="2026-03-06T08:37:29.295" v="524" actId="14100"/>
          <ac:spMkLst>
            <pc:docMk/>
            <pc:sldMk cId="1244894969" sldId="259"/>
            <ac:spMk id="7" creationId="{9AE336E2-BFE9-301A-AFA2-2180EEC07102}"/>
          </ac:spMkLst>
        </pc:spChg>
        <pc:spChg chg="del mod">
          <ac:chgData name="Neil Robins" userId="4150c76180ca2643" providerId="LiveId" clId="{4AEC34A0-B88D-4B80-8525-DC585E77A2A2}" dt="2026-03-06T08:38:05.608" v="527" actId="478"/>
          <ac:spMkLst>
            <pc:docMk/>
            <pc:sldMk cId="1244894969" sldId="259"/>
            <ac:spMk id="8" creationId="{2F76FB0A-6CB5-47EB-50C2-6A2B95E1B209}"/>
          </ac:spMkLst>
        </pc:spChg>
        <pc:spChg chg="add mod">
          <ac:chgData name="Neil Robins" userId="4150c76180ca2643" providerId="LiveId" clId="{4AEC34A0-B88D-4B80-8525-DC585E77A2A2}" dt="2026-03-06T08:59:43.024" v="1441" actId="14100"/>
          <ac:spMkLst>
            <pc:docMk/>
            <pc:sldMk cId="1244894969" sldId="259"/>
            <ac:spMk id="9" creationId="{A71B82F8-9F20-51CD-395F-C15551B1B9AE}"/>
          </ac:spMkLst>
        </pc:spChg>
        <pc:spChg chg="add mod">
          <ac:chgData name="Neil Robins" userId="4150c76180ca2643" providerId="LiveId" clId="{4AEC34A0-B88D-4B80-8525-DC585E77A2A2}" dt="2026-03-06T08:36:20.703" v="514" actId="14100"/>
          <ac:spMkLst>
            <pc:docMk/>
            <pc:sldMk cId="1244894969" sldId="259"/>
            <ac:spMk id="10" creationId="{D40048F4-EC6B-AF75-336A-60658D2B15E7}"/>
          </ac:spMkLst>
        </pc:spChg>
        <pc:spChg chg="add mod">
          <ac:chgData name="Neil Robins" userId="4150c76180ca2643" providerId="LiveId" clId="{4AEC34A0-B88D-4B80-8525-DC585E77A2A2}" dt="2026-03-06T08:36:57.046" v="517" actId="14100"/>
          <ac:spMkLst>
            <pc:docMk/>
            <pc:sldMk cId="1244894969" sldId="259"/>
            <ac:spMk id="11" creationId="{F0F1AE9E-23E0-8647-5414-43A2E392F48D}"/>
          </ac:spMkLst>
        </pc:spChg>
        <pc:spChg chg="add mod">
          <ac:chgData name="Neil Robins" userId="4150c76180ca2643" providerId="LiveId" clId="{4AEC34A0-B88D-4B80-8525-DC585E77A2A2}" dt="2026-03-06T08:37:45.757" v="526" actId="1076"/>
          <ac:spMkLst>
            <pc:docMk/>
            <pc:sldMk cId="1244894969" sldId="259"/>
            <ac:spMk id="12" creationId="{03467151-C422-B14B-8DF2-C5848E837BD0}"/>
          </ac:spMkLst>
        </pc:spChg>
        <pc:picChg chg="add mod ord">
          <ac:chgData name="Neil Robins" userId="4150c76180ca2643" providerId="LiveId" clId="{4AEC34A0-B88D-4B80-8525-DC585E77A2A2}" dt="2026-03-06T08:35:26.847" v="507" actId="14100"/>
          <ac:picMkLst>
            <pc:docMk/>
            <pc:sldMk cId="1244894969" sldId="259"/>
            <ac:picMk id="5" creationId="{79F7F6EF-EA53-D1C1-0960-B83F6E061831}"/>
          </ac:picMkLst>
        </pc:picChg>
        <pc:picChg chg="del">
          <ac:chgData name="Neil Robins" userId="4150c76180ca2643" providerId="LiveId" clId="{4AEC34A0-B88D-4B80-8525-DC585E77A2A2}" dt="2026-03-06T08:34:47.921" v="502" actId="478"/>
          <ac:picMkLst>
            <pc:docMk/>
            <pc:sldMk cId="1244894969" sldId="259"/>
            <ac:picMk id="6" creationId="{A50E1FC3-538B-418A-C72B-4CCF4A773035}"/>
          </ac:picMkLst>
        </pc:picChg>
      </pc:sldChg>
      <pc:sldChg chg="addSp delSp modSp mod">
        <pc:chgData name="Neil Robins" userId="4150c76180ca2643" providerId="LiveId" clId="{4AEC34A0-B88D-4B80-8525-DC585E77A2A2}" dt="2026-03-06T09:51:28.946" v="2590" actId="20577"/>
        <pc:sldMkLst>
          <pc:docMk/>
          <pc:sldMk cId="1008302173" sldId="261"/>
        </pc:sldMkLst>
        <pc:spChg chg="mod">
          <ac:chgData name="Neil Robins" userId="4150c76180ca2643" providerId="LiveId" clId="{4AEC34A0-B88D-4B80-8525-DC585E77A2A2}" dt="2026-03-06T09:51:28.946" v="2590" actId="20577"/>
          <ac:spMkLst>
            <pc:docMk/>
            <pc:sldMk cId="1008302173" sldId="261"/>
            <ac:spMk id="3" creationId="{4071300D-C04A-F902-6B47-B80F46573FFC}"/>
          </ac:spMkLst>
        </pc:spChg>
        <pc:picChg chg="add mod">
          <ac:chgData name="Neil Robins" userId="4150c76180ca2643" providerId="LiveId" clId="{4AEC34A0-B88D-4B80-8525-DC585E77A2A2}" dt="2026-03-06T09:48:21.773" v="2509" actId="1038"/>
          <ac:picMkLst>
            <pc:docMk/>
            <pc:sldMk cId="1008302173" sldId="261"/>
            <ac:picMk id="5" creationId="{4E8D20B7-3CF0-0D27-7C36-F6414F5448ED}"/>
          </ac:picMkLst>
        </pc:picChg>
        <pc:picChg chg="del">
          <ac:chgData name="Neil Robins" userId="4150c76180ca2643" providerId="LiveId" clId="{4AEC34A0-B88D-4B80-8525-DC585E77A2A2}" dt="2026-03-06T09:48:14.922" v="2442" actId="478"/>
          <ac:picMkLst>
            <pc:docMk/>
            <pc:sldMk cId="1008302173" sldId="261"/>
            <ac:picMk id="6" creationId="{6CED0410-4F2A-A9C9-D932-F9B967B23698}"/>
          </ac:picMkLst>
        </pc:picChg>
        <pc:picChg chg="del">
          <ac:chgData name="Neil Robins" userId="4150c76180ca2643" providerId="LiveId" clId="{4AEC34A0-B88D-4B80-8525-DC585E77A2A2}" dt="2026-03-06T09:49:10.925" v="2513" actId="478"/>
          <ac:picMkLst>
            <pc:docMk/>
            <pc:sldMk cId="1008302173" sldId="261"/>
            <ac:picMk id="8" creationId="{8235AC8E-B5B5-1F1D-B78B-959EA72187AF}"/>
          </ac:picMkLst>
        </pc:picChg>
        <pc:picChg chg="add mod modCrop">
          <ac:chgData name="Neil Robins" userId="4150c76180ca2643" providerId="LiveId" clId="{4AEC34A0-B88D-4B80-8525-DC585E77A2A2}" dt="2026-03-06T09:50:01.814" v="2580" actId="1076"/>
          <ac:picMkLst>
            <pc:docMk/>
            <pc:sldMk cId="1008302173" sldId="261"/>
            <ac:picMk id="9" creationId="{FEE3E1B4-77BA-84C8-358B-C6B84F55833B}"/>
          </ac:picMkLst>
        </pc:picChg>
      </pc:sldChg>
      <pc:sldChg chg="modSp mod">
        <pc:chgData name="Neil Robins" userId="4150c76180ca2643" providerId="LiveId" clId="{4AEC34A0-B88D-4B80-8525-DC585E77A2A2}" dt="2026-03-06T10:01:13.601" v="2748" actId="404"/>
        <pc:sldMkLst>
          <pc:docMk/>
          <pc:sldMk cId="75864475" sldId="262"/>
        </pc:sldMkLst>
        <pc:spChg chg="mod">
          <ac:chgData name="Neil Robins" userId="4150c76180ca2643" providerId="LiveId" clId="{4AEC34A0-B88D-4B80-8525-DC585E77A2A2}" dt="2026-03-06T09:52:31.781" v="2614" actId="20577"/>
          <ac:spMkLst>
            <pc:docMk/>
            <pc:sldMk cId="75864475" sldId="262"/>
            <ac:spMk id="2" creationId="{891BB6A6-744C-74B5-068C-31DF311F2E42}"/>
          </ac:spMkLst>
        </pc:spChg>
        <pc:spChg chg="mod">
          <ac:chgData name="Neil Robins" userId="4150c76180ca2643" providerId="LiveId" clId="{4AEC34A0-B88D-4B80-8525-DC585E77A2A2}" dt="2026-03-06T09:54:47.236" v="2644" actId="403"/>
          <ac:spMkLst>
            <pc:docMk/>
            <pc:sldMk cId="75864475" sldId="262"/>
            <ac:spMk id="5" creationId="{078AD1BC-ECB0-8FAC-B8AF-195F4DF85279}"/>
          </ac:spMkLst>
        </pc:spChg>
        <pc:spChg chg="mod">
          <ac:chgData name="Neil Robins" userId="4150c76180ca2643" providerId="LiveId" clId="{4AEC34A0-B88D-4B80-8525-DC585E77A2A2}" dt="2026-03-06T09:52:25.355" v="2611" actId="1036"/>
          <ac:spMkLst>
            <pc:docMk/>
            <pc:sldMk cId="75864475" sldId="262"/>
            <ac:spMk id="7" creationId="{6DB5C43B-E784-C9BD-AFBF-26FC1D8FD751}"/>
          </ac:spMkLst>
        </pc:spChg>
        <pc:spChg chg="mod">
          <ac:chgData name="Neil Robins" userId="4150c76180ca2643" providerId="LiveId" clId="{4AEC34A0-B88D-4B80-8525-DC585E77A2A2}" dt="2026-03-06T09:52:25.355" v="2611" actId="1036"/>
          <ac:spMkLst>
            <pc:docMk/>
            <pc:sldMk cId="75864475" sldId="262"/>
            <ac:spMk id="8" creationId="{D493FBA5-1FCE-4950-5EC5-479C0DE4BFE7}"/>
          </ac:spMkLst>
        </pc:spChg>
        <pc:spChg chg="mod">
          <ac:chgData name="Neil Robins" userId="4150c76180ca2643" providerId="LiveId" clId="{4AEC34A0-B88D-4B80-8525-DC585E77A2A2}" dt="2026-03-06T10:01:13.601" v="2748" actId="404"/>
          <ac:spMkLst>
            <pc:docMk/>
            <pc:sldMk cId="75864475" sldId="262"/>
            <ac:spMk id="9" creationId="{8BB130CF-2DD1-4F93-32BF-851910EF2C2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9297101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49798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64DE79-268F-4C1A-8933-263129D2AF90}" type="datetimeFigureOut">
              <a:rPr lang="en-US" dirty="0"/>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6652999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92591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3/5/2026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3477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3/5/2026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6562724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3/5/2026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40839496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500032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64DE79-268F-4C1A-8933-263129D2AF90}" type="datetimeFigureOut">
              <a:rPr lang="en-US" dirty="0"/>
              <a:t>3/5/2026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31834013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1342975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3/5/2026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a:t>
            </a:fld>
            <a:endParaRPr lang="en-US" dirty="0"/>
          </a:p>
        </p:txBody>
      </p:sp>
    </p:spTree>
    <p:extLst>
      <p:ext uri="{BB962C8B-B14F-4D97-AF65-F5344CB8AC3E}">
        <p14:creationId xmlns:p14="http://schemas.microsoft.com/office/powerpoint/2010/main" val="9004860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764DE79-268F-4C1A-8933-263129D2AF90}" type="datetimeFigureOut">
              <a:rPr lang="en-US" dirty="0"/>
              <a:t>3/5/2026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006386759"/>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3D5CC-2FCA-6593-9BCE-672700C84C63}"/>
              </a:ext>
            </a:extLst>
          </p:cNvPr>
          <p:cNvSpPr>
            <a:spLocks noGrp="1"/>
          </p:cNvSpPr>
          <p:nvPr>
            <p:ph type="ctrTitle"/>
          </p:nvPr>
        </p:nvSpPr>
        <p:spPr/>
        <p:txBody>
          <a:bodyPr/>
          <a:lstStyle/>
          <a:p>
            <a:r>
              <a:rPr lang="en-US" dirty="0"/>
              <a:t>Data Presentation</a:t>
            </a:r>
            <a:endParaRPr lang="nb-NO" dirty="0"/>
          </a:p>
        </p:txBody>
      </p:sp>
      <p:sp>
        <p:nvSpPr>
          <p:cNvPr id="3" name="Subtitle 2">
            <a:extLst>
              <a:ext uri="{FF2B5EF4-FFF2-40B4-BE49-F238E27FC236}">
                <a16:creationId xmlns:a16="http://schemas.microsoft.com/office/drawing/2014/main" id="{F3978D01-91D1-9F24-CCFC-EB29E23342F8}"/>
              </a:ext>
            </a:extLst>
          </p:cNvPr>
          <p:cNvSpPr>
            <a:spLocks noGrp="1"/>
          </p:cNvSpPr>
          <p:nvPr>
            <p:ph type="subTitle" idx="1"/>
          </p:nvPr>
        </p:nvSpPr>
        <p:spPr/>
        <p:txBody>
          <a:bodyPr/>
          <a:lstStyle/>
          <a:p>
            <a:r>
              <a:rPr lang="en-US" dirty="0"/>
              <a:t>Marketing Analytics Portfolio Project</a:t>
            </a:r>
            <a:endParaRPr lang="nb-NO" dirty="0"/>
          </a:p>
        </p:txBody>
      </p:sp>
    </p:spTree>
    <p:extLst>
      <p:ext uri="{BB962C8B-B14F-4D97-AF65-F5344CB8AC3E}">
        <p14:creationId xmlns:p14="http://schemas.microsoft.com/office/powerpoint/2010/main" val="5422706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D35A8D-0765-DAC6-0DB9-4D28904FC1DB}"/>
              </a:ext>
            </a:extLst>
          </p:cNvPr>
          <p:cNvPicPr>
            <a:picLocks noChangeAspect="1"/>
          </p:cNvPicPr>
          <p:nvPr/>
        </p:nvPicPr>
        <p:blipFill>
          <a:blip r:embed="rId2"/>
          <a:stretch>
            <a:fillRect/>
          </a:stretch>
        </p:blipFill>
        <p:spPr>
          <a:xfrm>
            <a:off x="4838777" y="1823131"/>
            <a:ext cx="7318693" cy="4351338"/>
          </a:xfrm>
          <a:prstGeom prst="rect">
            <a:avLst/>
          </a:prstGeom>
        </p:spPr>
      </p:pic>
      <p:sp>
        <p:nvSpPr>
          <p:cNvPr id="4" name="Title 3">
            <a:extLst>
              <a:ext uri="{FF2B5EF4-FFF2-40B4-BE49-F238E27FC236}">
                <a16:creationId xmlns:a16="http://schemas.microsoft.com/office/drawing/2014/main" id="{E14306C0-546A-60F1-F05E-BED638FBB9EB}"/>
              </a:ext>
            </a:extLst>
          </p:cNvPr>
          <p:cNvSpPr>
            <a:spLocks noGrp="1"/>
          </p:cNvSpPr>
          <p:nvPr>
            <p:ph type="title"/>
          </p:nvPr>
        </p:nvSpPr>
        <p:spPr/>
        <p:txBody>
          <a:bodyPr/>
          <a:lstStyle/>
          <a:p>
            <a:r>
              <a:rPr lang="nb-NO" dirty="0"/>
              <a:t>Overview - 2025 Marketing Performance</a:t>
            </a:r>
          </a:p>
        </p:txBody>
      </p:sp>
      <p:sp>
        <p:nvSpPr>
          <p:cNvPr id="6" name="Content Placeholder 5">
            <a:extLst>
              <a:ext uri="{FF2B5EF4-FFF2-40B4-BE49-F238E27FC236}">
                <a16:creationId xmlns:a16="http://schemas.microsoft.com/office/drawing/2014/main" id="{63336F16-91A5-5CAF-84F3-64F6D6DE9D0D}"/>
              </a:ext>
            </a:extLst>
          </p:cNvPr>
          <p:cNvSpPr>
            <a:spLocks noGrp="1"/>
          </p:cNvSpPr>
          <p:nvPr>
            <p:ph sz="half" idx="1"/>
          </p:nvPr>
        </p:nvSpPr>
        <p:spPr>
          <a:xfrm>
            <a:off x="838200" y="1825625"/>
            <a:ext cx="3644423" cy="4351338"/>
          </a:xfrm>
        </p:spPr>
        <p:txBody>
          <a:bodyPr>
            <a:normAutofit fontScale="32500" lnSpcReduction="20000"/>
          </a:bodyPr>
          <a:lstStyle/>
          <a:p>
            <a:pPr marL="0" indent="0">
              <a:lnSpc>
                <a:spcPct val="160000"/>
              </a:lnSpc>
              <a:buNone/>
            </a:pPr>
            <a:r>
              <a:rPr lang="en-US" sz="3700" b="1" dirty="0"/>
              <a:t>Conversion Rates</a:t>
            </a:r>
          </a:p>
          <a:p>
            <a:pPr>
              <a:lnSpc>
                <a:spcPct val="120000"/>
              </a:lnSpc>
              <a:spcBef>
                <a:spcPts val="0"/>
              </a:spcBef>
            </a:pPr>
            <a:r>
              <a:rPr lang="en-US" sz="3700" dirty="0"/>
              <a:t>For much of the year these have been &lt; 10%, which requires improvement</a:t>
            </a:r>
          </a:p>
          <a:p>
            <a:pPr>
              <a:lnSpc>
                <a:spcPct val="120000"/>
              </a:lnSpc>
              <a:spcBef>
                <a:spcPts val="0"/>
              </a:spcBef>
            </a:pPr>
            <a:r>
              <a:rPr lang="en-US" sz="3700" dirty="0"/>
              <a:t>Recommend investigate route causes of seasonality highlighted in decline spring through summer and pick up in winter months</a:t>
            </a:r>
          </a:p>
          <a:p>
            <a:pPr>
              <a:lnSpc>
                <a:spcPct val="120000"/>
              </a:lnSpc>
              <a:spcBef>
                <a:spcPts val="0"/>
              </a:spcBef>
            </a:pPr>
            <a:r>
              <a:rPr lang="en-US" sz="3700" dirty="0"/>
              <a:t>Autumn looks anomalous, why 10% drop from Sep to Oct, investigate further</a:t>
            </a:r>
          </a:p>
          <a:p>
            <a:pPr marL="0" indent="0">
              <a:lnSpc>
                <a:spcPct val="160000"/>
              </a:lnSpc>
              <a:spcBef>
                <a:spcPts val="600"/>
              </a:spcBef>
              <a:buNone/>
            </a:pPr>
            <a:r>
              <a:rPr lang="en-US" sz="3700" b="1" dirty="0"/>
              <a:t>Customer Engagement</a:t>
            </a:r>
          </a:p>
          <a:p>
            <a:pPr>
              <a:lnSpc>
                <a:spcPct val="120000"/>
              </a:lnSpc>
              <a:spcBef>
                <a:spcPts val="0"/>
              </a:spcBef>
            </a:pPr>
            <a:r>
              <a:rPr lang="en-US" sz="3700" dirty="0"/>
              <a:t>Decline in overall social media engagement, with views dropping throughout the year</a:t>
            </a:r>
          </a:p>
          <a:p>
            <a:pPr>
              <a:lnSpc>
                <a:spcPct val="120000"/>
              </a:lnSpc>
              <a:spcBef>
                <a:spcPts val="0"/>
              </a:spcBef>
            </a:pPr>
            <a:r>
              <a:rPr lang="en-US" sz="3700" dirty="0"/>
              <a:t>Click-through rate stands at 6.17%, particularly concerning</a:t>
            </a:r>
            <a:endParaRPr lang="en-US" sz="2900" dirty="0"/>
          </a:p>
          <a:p>
            <a:pPr marL="0" indent="0">
              <a:lnSpc>
                <a:spcPct val="160000"/>
              </a:lnSpc>
              <a:spcBef>
                <a:spcPts val="600"/>
              </a:spcBef>
              <a:buNone/>
            </a:pPr>
            <a:r>
              <a:rPr lang="en-US" sz="3700" b="1" dirty="0"/>
              <a:t>Customer Feedback</a:t>
            </a:r>
          </a:p>
          <a:p>
            <a:pPr>
              <a:lnSpc>
                <a:spcPct val="120000"/>
              </a:lnSpc>
              <a:spcBef>
                <a:spcPts val="0"/>
              </a:spcBef>
            </a:pPr>
            <a:r>
              <a:rPr lang="en-US" sz="3700" dirty="0"/>
              <a:t>Customer ratings relatively consistent, averaging around 3.7 throughout the year.</a:t>
            </a:r>
          </a:p>
          <a:p>
            <a:pPr>
              <a:lnSpc>
                <a:spcPct val="120000"/>
              </a:lnSpc>
              <a:spcBef>
                <a:spcPts val="0"/>
              </a:spcBef>
            </a:pPr>
            <a:r>
              <a:rPr lang="en-US" sz="3700" dirty="0"/>
              <a:t>The average rating below 4.0 target</a:t>
            </a:r>
          </a:p>
          <a:p>
            <a:pPr>
              <a:lnSpc>
                <a:spcPct val="120000"/>
              </a:lnSpc>
              <a:spcBef>
                <a:spcPts val="0"/>
              </a:spcBef>
            </a:pPr>
            <a:r>
              <a:rPr lang="en-US" sz="3700" dirty="0"/>
              <a:t>Need focused improvements in customer satisfaction</a:t>
            </a:r>
            <a:endParaRPr lang="nb-NO" sz="3700" dirty="0"/>
          </a:p>
        </p:txBody>
      </p:sp>
      <p:cxnSp>
        <p:nvCxnSpPr>
          <p:cNvPr id="11" name="Straight Arrow Connector 10">
            <a:extLst>
              <a:ext uri="{FF2B5EF4-FFF2-40B4-BE49-F238E27FC236}">
                <a16:creationId xmlns:a16="http://schemas.microsoft.com/office/drawing/2014/main" id="{EB0B3192-656E-0734-EE42-F4DBBB67D9E3}"/>
              </a:ext>
            </a:extLst>
          </p:cNvPr>
          <p:cNvCxnSpPr>
            <a:cxnSpLocks/>
          </p:cNvCxnSpPr>
          <p:nvPr/>
        </p:nvCxnSpPr>
        <p:spPr>
          <a:xfrm>
            <a:off x="10237155" y="342900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
        <p:nvSpPr>
          <p:cNvPr id="13" name="Oval 12">
            <a:extLst>
              <a:ext uri="{FF2B5EF4-FFF2-40B4-BE49-F238E27FC236}">
                <a16:creationId xmlns:a16="http://schemas.microsoft.com/office/drawing/2014/main" id="{DB459B85-8FF8-3F68-F083-4F22D9FF99A0}"/>
              </a:ext>
            </a:extLst>
          </p:cNvPr>
          <p:cNvSpPr/>
          <p:nvPr/>
        </p:nvSpPr>
        <p:spPr>
          <a:xfrm>
            <a:off x="7806406" y="1957694"/>
            <a:ext cx="856331" cy="859399"/>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4" name="Rectangle 13">
            <a:extLst>
              <a:ext uri="{FF2B5EF4-FFF2-40B4-BE49-F238E27FC236}">
                <a16:creationId xmlns:a16="http://schemas.microsoft.com/office/drawing/2014/main" id="{622A03A8-9FE6-D649-8831-F488E4DEDF7E}"/>
              </a:ext>
            </a:extLst>
          </p:cNvPr>
          <p:cNvSpPr/>
          <p:nvPr/>
        </p:nvSpPr>
        <p:spPr>
          <a:xfrm>
            <a:off x="6693137" y="4874281"/>
            <a:ext cx="1969600" cy="1300188"/>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2515083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9F7F6EF-EA53-D1C1-0960-B83F6E061831}"/>
              </a:ext>
            </a:extLst>
          </p:cNvPr>
          <p:cNvPicPr>
            <a:picLocks noChangeAspect="1"/>
          </p:cNvPicPr>
          <p:nvPr/>
        </p:nvPicPr>
        <p:blipFill>
          <a:blip r:embed="rId2"/>
          <a:stretch>
            <a:fillRect/>
          </a:stretch>
        </p:blipFill>
        <p:spPr>
          <a:xfrm>
            <a:off x="6095999" y="2274589"/>
            <a:ext cx="5817343" cy="3340280"/>
          </a:xfrm>
          <a:prstGeom prst="rect">
            <a:avLst/>
          </a:prstGeom>
        </p:spPr>
      </p:pic>
      <p:sp>
        <p:nvSpPr>
          <p:cNvPr id="2" name="Title 1">
            <a:extLst>
              <a:ext uri="{FF2B5EF4-FFF2-40B4-BE49-F238E27FC236}">
                <a16:creationId xmlns:a16="http://schemas.microsoft.com/office/drawing/2014/main" id="{1FE24B03-AA3A-063B-47A9-E6D9E66527A3}"/>
              </a:ext>
            </a:extLst>
          </p:cNvPr>
          <p:cNvSpPr>
            <a:spLocks noGrp="1"/>
          </p:cNvSpPr>
          <p:nvPr>
            <p:ph type="title"/>
          </p:nvPr>
        </p:nvSpPr>
        <p:spPr/>
        <p:txBody>
          <a:bodyPr/>
          <a:lstStyle/>
          <a:p>
            <a:r>
              <a:rPr lang="nb-NO" dirty="0"/>
              <a:t>Conversion Rates</a:t>
            </a:r>
          </a:p>
        </p:txBody>
      </p:sp>
      <p:sp>
        <p:nvSpPr>
          <p:cNvPr id="3" name="Content Placeholder 2">
            <a:extLst>
              <a:ext uri="{FF2B5EF4-FFF2-40B4-BE49-F238E27FC236}">
                <a16:creationId xmlns:a16="http://schemas.microsoft.com/office/drawing/2014/main" id="{4F670CE0-1CA8-715A-00A3-F38DAB303988}"/>
              </a:ext>
            </a:extLst>
          </p:cNvPr>
          <p:cNvSpPr>
            <a:spLocks noGrp="1"/>
          </p:cNvSpPr>
          <p:nvPr>
            <p:ph sz="half" idx="1"/>
          </p:nvPr>
        </p:nvSpPr>
        <p:spPr/>
        <p:txBody>
          <a:bodyPr>
            <a:normAutofit fontScale="47500" lnSpcReduction="20000"/>
          </a:bodyPr>
          <a:lstStyle/>
          <a:p>
            <a:pPr marL="0" indent="0">
              <a:lnSpc>
                <a:spcPct val="170000"/>
              </a:lnSpc>
              <a:spcAft>
                <a:spcPts val="600"/>
              </a:spcAft>
              <a:buNone/>
            </a:pPr>
            <a:r>
              <a:rPr lang="en-US" b="1" dirty="0"/>
              <a:t>General Conversion Trend</a:t>
            </a:r>
          </a:p>
          <a:p>
            <a:pPr>
              <a:lnSpc>
                <a:spcPct val="120000"/>
              </a:lnSpc>
              <a:spcBef>
                <a:spcPts val="0"/>
              </a:spcBef>
            </a:pPr>
            <a:r>
              <a:rPr lang="en-US" dirty="0"/>
              <a:t>Conversation rate highly variable, ranging 2.9% (Jul) – 14.7% (Sep)</a:t>
            </a:r>
          </a:p>
          <a:p>
            <a:pPr>
              <a:lnSpc>
                <a:spcPct val="120000"/>
              </a:lnSpc>
              <a:spcBef>
                <a:spcPts val="0"/>
              </a:spcBef>
            </a:pPr>
            <a:r>
              <a:rPr lang="en-US" dirty="0"/>
              <a:t>There is seasonality, September peak could indicate sales due to new school year and December peak relate to Christmas</a:t>
            </a:r>
          </a:p>
          <a:p>
            <a:pPr>
              <a:lnSpc>
                <a:spcPct val="120000"/>
              </a:lnSpc>
              <a:spcBef>
                <a:spcPts val="0"/>
              </a:spcBef>
            </a:pPr>
            <a:r>
              <a:rPr lang="en-US" dirty="0"/>
              <a:t>March peak less obvious and worth further analysis</a:t>
            </a:r>
          </a:p>
          <a:p>
            <a:pPr marL="0" indent="0">
              <a:lnSpc>
                <a:spcPct val="120000"/>
              </a:lnSpc>
              <a:spcAft>
                <a:spcPts val="600"/>
              </a:spcAft>
              <a:buNone/>
            </a:pPr>
            <a:r>
              <a:rPr lang="en-US" b="1" dirty="0"/>
              <a:t>Lowest Conversion Rates</a:t>
            </a:r>
          </a:p>
          <a:p>
            <a:pPr>
              <a:lnSpc>
                <a:spcPct val="120000"/>
              </a:lnSpc>
              <a:spcBef>
                <a:spcPts val="0"/>
              </a:spcBef>
            </a:pPr>
            <a:r>
              <a:rPr lang="en-US" dirty="0"/>
              <a:t>July 2.9% - needs investigating to avoid repeat in the coming year</a:t>
            </a:r>
          </a:p>
          <a:p>
            <a:pPr>
              <a:lnSpc>
                <a:spcPct val="120000"/>
              </a:lnSpc>
              <a:spcBef>
                <a:spcPts val="0"/>
              </a:spcBef>
            </a:pPr>
            <a:r>
              <a:rPr lang="en-US" dirty="0"/>
              <a:t>Recommend pre-summer campaign focused on key summer and holiday products with attractive pricing and multiple product offers</a:t>
            </a:r>
          </a:p>
          <a:p>
            <a:pPr>
              <a:lnSpc>
                <a:spcPct val="120000"/>
              </a:lnSpc>
              <a:spcBef>
                <a:spcPts val="0"/>
              </a:spcBef>
            </a:pPr>
            <a:r>
              <a:rPr lang="en-US" dirty="0"/>
              <a:t>Review low performing products e.g. football helmet and volleyball, why are these unattractive, is it price, perceived quality, unattractive design, low general market demand? </a:t>
            </a:r>
          </a:p>
          <a:p>
            <a:pPr marL="0" indent="0">
              <a:lnSpc>
                <a:spcPct val="120000"/>
              </a:lnSpc>
              <a:spcAft>
                <a:spcPts val="600"/>
              </a:spcAft>
              <a:buNone/>
            </a:pPr>
            <a:r>
              <a:rPr lang="en-US" b="1" dirty="0"/>
              <a:t>Highest Conversion Rates</a:t>
            </a:r>
          </a:p>
          <a:p>
            <a:pPr>
              <a:lnSpc>
                <a:spcPct val="120000"/>
              </a:lnSpc>
              <a:spcBef>
                <a:spcPts val="0"/>
              </a:spcBef>
            </a:pPr>
            <a:r>
              <a:rPr lang="en-US" dirty="0"/>
              <a:t>September 14.7% -  the return to school sales a strong area to further capitalize on</a:t>
            </a:r>
          </a:p>
          <a:p>
            <a:pPr>
              <a:lnSpc>
                <a:spcPct val="120000"/>
              </a:lnSpc>
              <a:spcBef>
                <a:spcPts val="0"/>
              </a:spcBef>
            </a:pPr>
            <a:r>
              <a:rPr lang="en-US" dirty="0"/>
              <a:t>Is the May 200% conversation rate for Surfboard linked to any marketing activity appears anomalous recommend further analysis</a:t>
            </a:r>
          </a:p>
        </p:txBody>
      </p:sp>
      <p:sp>
        <p:nvSpPr>
          <p:cNvPr id="7" name="Rectangle 6">
            <a:extLst>
              <a:ext uri="{FF2B5EF4-FFF2-40B4-BE49-F238E27FC236}">
                <a16:creationId xmlns:a16="http://schemas.microsoft.com/office/drawing/2014/main" id="{9AE336E2-BFE9-301A-AFA2-2180EEC07102}"/>
              </a:ext>
            </a:extLst>
          </p:cNvPr>
          <p:cNvSpPr/>
          <p:nvPr/>
        </p:nvSpPr>
        <p:spPr>
          <a:xfrm>
            <a:off x="9234408" y="2274589"/>
            <a:ext cx="704337" cy="327982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9" name="Rectangle 8">
            <a:extLst>
              <a:ext uri="{FF2B5EF4-FFF2-40B4-BE49-F238E27FC236}">
                <a16:creationId xmlns:a16="http://schemas.microsoft.com/office/drawing/2014/main" id="{A71B82F8-9F20-51CD-395F-C15551B1B9AE}"/>
              </a:ext>
            </a:extLst>
          </p:cNvPr>
          <p:cNvSpPr/>
          <p:nvPr/>
        </p:nvSpPr>
        <p:spPr>
          <a:xfrm>
            <a:off x="7662822" y="2274589"/>
            <a:ext cx="453423" cy="3279824"/>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0" name="Rectangle 9">
            <a:extLst>
              <a:ext uri="{FF2B5EF4-FFF2-40B4-BE49-F238E27FC236}">
                <a16:creationId xmlns:a16="http://schemas.microsoft.com/office/drawing/2014/main" id="{D40048F4-EC6B-AF75-336A-60658D2B15E7}"/>
              </a:ext>
            </a:extLst>
          </p:cNvPr>
          <p:cNvSpPr/>
          <p:nvPr/>
        </p:nvSpPr>
        <p:spPr>
          <a:xfrm>
            <a:off x="11113643" y="2274589"/>
            <a:ext cx="403263" cy="3279824"/>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1" name="Rectangle 10">
            <a:extLst>
              <a:ext uri="{FF2B5EF4-FFF2-40B4-BE49-F238E27FC236}">
                <a16:creationId xmlns:a16="http://schemas.microsoft.com/office/drawing/2014/main" id="{F0F1AE9E-23E0-8647-5414-43A2E392F48D}"/>
              </a:ext>
            </a:extLst>
          </p:cNvPr>
          <p:cNvSpPr/>
          <p:nvPr/>
        </p:nvSpPr>
        <p:spPr>
          <a:xfrm>
            <a:off x="9938746" y="2274589"/>
            <a:ext cx="403263" cy="3279824"/>
          </a:xfrm>
          <a:prstGeom prst="rect">
            <a:avLst/>
          </a:prstGeom>
          <a:noFill/>
          <a:ln w="38100">
            <a:solidFill>
              <a:schemeClr val="accent6">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
        <p:nvSpPr>
          <p:cNvPr id="12" name="Rectangle 11">
            <a:extLst>
              <a:ext uri="{FF2B5EF4-FFF2-40B4-BE49-F238E27FC236}">
                <a16:creationId xmlns:a16="http://schemas.microsoft.com/office/drawing/2014/main" id="{03467151-C422-B14B-8DF2-C5848E837BD0}"/>
              </a:ext>
            </a:extLst>
          </p:cNvPr>
          <p:cNvSpPr/>
          <p:nvPr/>
        </p:nvSpPr>
        <p:spPr>
          <a:xfrm>
            <a:off x="10375657" y="2274589"/>
            <a:ext cx="704337" cy="3279824"/>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nb-NO"/>
          </a:p>
        </p:txBody>
      </p:sp>
    </p:spTree>
    <p:extLst>
      <p:ext uri="{BB962C8B-B14F-4D97-AF65-F5344CB8AC3E}">
        <p14:creationId xmlns:p14="http://schemas.microsoft.com/office/powerpoint/2010/main" val="12448949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B004ECB-46DD-F866-13CA-E5960A43C503}"/>
              </a:ext>
            </a:extLst>
          </p:cNvPr>
          <p:cNvPicPr>
            <a:picLocks noChangeAspect="1"/>
          </p:cNvPicPr>
          <p:nvPr/>
        </p:nvPicPr>
        <p:blipFill>
          <a:blip r:embed="rId2"/>
          <a:srcRect r="1651"/>
          <a:stretch>
            <a:fillRect/>
          </a:stretch>
        </p:blipFill>
        <p:spPr>
          <a:xfrm>
            <a:off x="6678828" y="1690688"/>
            <a:ext cx="3696968" cy="2213660"/>
          </a:xfrm>
          <a:prstGeom prst="rect">
            <a:avLst/>
          </a:prstGeom>
        </p:spPr>
      </p:pic>
      <p:sp>
        <p:nvSpPr>
          <p:cNvPr id="2" name="Title 1">
            <a:extLst>
              <a:ext uri="{FF2B5EF4-FFF2-40B4-BE49-F238E27FC236}">
                <a16:creationId xmlns:a16="http://schemas.microsoft.com/office/drawing/2014/main" id="{FF441323-4EC6-EDBF-8B2F-91031692055C}"/>
              </a:ext>
            </a:extLst>
          </p:cNvPr>
          <p:cNvSpPr>
            <a:spLocks noGrp="1"/>
          </p:cNvSpPr>
          <p:nvPr>
            <p:ph type="title"/>
          </p:nvPr>
        </p:nvSpPr>
        <p:spPr/>
        <p:txBody>
          <a:bodyPr/>
          <a:lstStyle/>
          <a:p>
            <a:r>
              <a:rPr lang="en-US" dirty="0"/>
              <a:t>Reduced Customer Engagement</a:t>
            </a:r>
            <a:endParaRPr lang="nb-NO" dirty="0"/>
          </a:p>
        </p:txBody>
      </p:sp>
      <p:sp>
        <p:nvSpPr>
          <p:cNvPr id="3" name="Content Placeholder 2">
            <a:extLst>
              <a:ext uri="{FF2B5EF4-FFF2-40B4-BE49-F238E27FC236}">
                <a16:creationId xmlns:a16="http://schemas.microsoft.com/office/drawing/2014/main" id="{864EEEC7-BFE3-E8A1-062C-F7A682CE01AD}"/>
              </a:ext>
            </a:extLst>
          </p:cNvPr>
          <p:cNvSpPr>
            <a:spLocks noGrp="1"/>
          </p:cNvSpPr>
          <p:nvPr>
            <p:ph sz="half" idx="1"/>
          </p:nvPr>
        </p:nvSpPr>
        <p:spPr/>
        <p:txBody>
          <a:bodyPr>
            <a:normAutofit fontScale="55000" lnSpcReduction="20000"/>
          </a:bodyPr>
          <a:lstStyle/>
          <a:p>
            <a:pPr marL="0" indent="0">
              <a:lnSpc>
                <a:spcPct val="170000"/>
              </a:lnSpc>
              <a:spcAft>
                <a:spcPts val="600"/>
              </a:spcAft>
              <a:buNone/>
            </a:pPr>
            <a:r>
              <a:rPr lang="en-US" b="1" dirty="0"/>
              <a:t>Views</a:t>
            </a:r>
          </a:p>
          <a:p>
            <a:pPr>
              <a:lnSpc>
                <a:spcPct val="120000"/>
              </a:lnSpc>
              <a:spcBef>
                <a:spcPts val="0"/>
              </a:spcBef>
            </a:pPr>
            <a:r>
              <a:rPr lang="en-US" dirty="0"/>
              <a:t>Big decline from January through August</a:t>
            </a:r>
          </a:p>
          <a:p>
            <a:pPr>
              <a:lnSpc>
                <a:spcPct val="120000"/>
              </a:lnSpc>
              <a:spcBef>
                <a:spcPts val="0"/>
              </a:spcBef>
            </a:pPr>
            <a:r>
              <a:rPr lang="en-US" dirty="0"/>
              <a:t>Minor recovery September onwards</a:t>
            </a:r>
          </a:p>
          <a:p>
            <a:pPr marL="0" indent="0">
              <a:lnSpc>
                <a:spcPct val="170000"/>
              </a:lnSpc>
              <a:spcAft>
                <a:spcPts val="600"/>
              </a:spcAft>
              <a:buNone/>
            </a:pPr>
            <a:r>
              <a:rPr lang="en-US" b="1" dirty="0"/>
              <a:t>Interaction Rates</a:t>
            </a:r>
          </a:p>
          <a:p>
            <a:pPr>
              <a:lnSpc>
                <a:spcPct val="120000"/>
              </a:lnSpc>
              <a:spcBef>
                <a:spcPts val="0"/>
              </a:spcBef>
            </a:pPr>
            <a:r>
              <a:rPr lang="en-US" dirty="0"/>
              <a:t>Clicks and likes remained consistently low compared to views, highlighting need for more engaging content and stronger calls to action</a:t>
            </a:r>
          </a:p>
          <a:p>
            <a:pPr marL="0" indent="0">
              <a:lnSpc>
                <a:spcPct val="170000"/>
              </a:lnSpc>
              <a:spcAft>
                <a:spcPts val="600"/>
              </a:spcAft>
              <a:buNone/>
            </a:pPr>
            <a:r>
              <a:rPr lang="en-US" b="1" dirty="0"/>
              <a:t>Content Type Performance</a:t>
            </a:r>
          </a:p>
          <a:p>
            <a:pPr>
              <a:lnSpc>
                <a:spcPct val="120000"/>
              </a:lnSpc>
              <a:spcBef>
                <a:spcPts val="0"/>
              </a:spcBef>
            </a:pPr>
            <a:r>
              <a:rPr lang="en-US" dirty="0"/>
              <a:t>Blog content particularly strong in January but it’s influence relative to other content decreased thereafter</a:t>
            </a:r>
          </a:p>
          <a:p>
            <a:pPr>
              <a:lnSpc>
                <a:spcPct val="120000"/>
              </a:lnSpc>
              <a:spcBef>
                <a:spcPts val="0"/>
              </a:spcBef>
            </a:pPr>
            <a:r>
              <a:rPr lang="en-US" dirty="0"/>
              <a:t>No consistent pattern in the most influential content type</a:t>
            </a:r>
          </a:p>
          <a:p>
            <a:pPr>
              <a:lnSpc>
                <a:spcPct val="120000"/>
              </a:lnSpc>
              <a:spcBef>
                <a:spcPts val="0"/>
              </a:spcBef>
            </a:pPr>
            <a:r>
              <a:rPr lang="en-US" dirty="0"/>
              <a:t>Some tendency towards a more equally proportional split in Q4</a:t>
            </a:r>
            <a:endParaRPr lang="nb-NO" dirty="0"/>
          </a:p>
        </p:txBody>
      </p:sp>
      <p:cxnSp>
        <p:nvCxnSpPr>
          <p:cNvPr id="9" name="Straight Arrow Connector 8">
            <a:extLst>
              <a:ext uri="{FF2B5EF4-FFF2-40B4-BE49-F238E27FC236}">
                <a16:creationId xmlns:a16="http://schemas.microsoft.com/office/drawing/2014/main" id="{1F4F75BE-DDC1-8FDE-9EA6-5BAC6391EC05}"/>
              </a:ext>
            </a:extLst>
          </p:cNvPr>
          <p:cNvCxnSpPr>
            <a:cxnSpLocks/>
          </p:cNvCxnSpPr>
          <p:nvPr/>
        </p:nvCxnSpPr>
        <p:spPr>
          <a:xfrm>
            <a:off x="8614637" y="2658610"/>
            <a:ext cx="1388788" cy="345478"/>
          </a:xfrm>
          <a:prstGeom prst="straightConnector1">
            <a:avLst/>
          </a:prstGeom>
          <a:ln w="57150" cap="flat" cmpd="sng" algn="ctr">
            <a:solidFill>
              <a:srgbClr val="FF000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pic>
        <p:nvPicPr>
          <p:cNvPr id="10" name="Picture 9">
            <a:extLst>
              <a:ext uri="{FF2B5EF4-FFF2-40B4-BE49-F238E27FC236}">
                <a16:creationId xmlns:a16="http://schemas.microsoft.com/office/drawing/2014/main" id="{255CDF65-0DE2-05F1-5EBA-32201A750144}"/>
              </a:ext>
            </a:extLst>
          </p:cNvPr>
          <p:cNvPicPr>
            <a:picLocks noChangeAspect="1"/>
          </p:cNvPicPr>
          <p:nvPr/>
        </p:nvPicPr>
        <p:blipFill>
          <a:blip r:embed="rId3"/>
          <a:srcRect t="1381"/>
          <a:stretch>
            <a:fillRect/>
          </a:stretch>
        </p:blipFill>
        <p:spPr>
          <a:xfrm>
            <a:off x="6683048" y="3972010"/>
            <a:ext cx="3754825" cy="2134066"/>
          </a:xfrm>
          <a:prstGeom prst="rect">
            <a:avLst/>
          </a:prstGeom>
        </p:spPr>
      </p:pic>
    </p:spTree>
    <p:extLst>
      <p:ext uri="{BB962C8B-B14F-4D97-AF65-F5344CB8AC3E}">
        <p14:creationId xmlns:p14="http://schemas.microsoft.com/office/powerpoint/2010/main" val="3330868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ED45-DF7A-8484-AA42-BF4F3443B7AD}"/>
              </a:ext>
            </a:extLst>
          </p:cNvPr>
          <p:cNvSpPr>
            <a:spLocks noGrp="1"/>
          </p:cNvSpPr>
          <p:nvPr>
            <p:ph type="title"/>
          </p:nvPr>
        </p:nvSpPr>
        <p:spPr/>
        <p:txBody>
          <a:bodyPr/>
          <a:lstStyle/>
          <a:p>
            <a:r>
              <a:rPr lang="nb-NO" dirty="0" err="1"/>
              <a:t>Customer</a:t>
            </a:r>
            <a:r>
              <a:rPr lang="nb-NO" dirty="0"/>
              <a:t> Feedback Analysis</a:t>
            </a:r>
          </a:p>
        </p:txBody>
      </p:sp>
      <p:sp>
        <p:nvSpPr>
          <p:cNvPr id="3" name="Content Placeholder 2">
            <a:extLst>
              <a:ext uri="{FF2B5EF4-FFF2-40B4-BE49-F238E27FC236}">
                <a16:creationId xmlns:a16="http://schemas.microsoft.com/office/drawing/2014/main" id="{4071300D-C04A-F902-6B47-B80F46573FFC}"/>
              </a:ext>
            </a:extLst>
          </p:cNvPr>
          <p:cNvSpPr>
            <a:spLocks noGrp="1"/>
          </p:cNvSpPr>
          <p:nvPr>
            <p:ph sz="half" idx="1"/>
          </p:nvPr>
        </p:nvSpPr>
        <p:spPr/>
        <p:txBody>
          <a:bodyPr>
            <a:normAutofit fontScale="40000" lnSpcReduction="20000"/>
          </a:bodyPr>
          <a:lstStyle/>
          <a:p>
            <a:pPr marL="0" indent="0">
              <a:lnSpc>
                <a:spcPct val="170000"/>
              </a:lnSpc>
              <a:spcAft>
                <a:spcPts val="600"/>
              </a:spcAft>
              <a:buNone/>
            </a:pPr>
            <a:r>
              <a:rPr lang="en-US" sz="3700" b="1" dirty="0"/>
              <a:t>Customer Ratings Distribution</a:t>
            </a:r>
          </a:p>
          <a:p>
            <a:pPr>
              <a:lnSpc>
                <a:spcPct val="120000"/>
              </a:lnSpc>
              <a:spcBef>
                <a:spcPts val="0"/>
              </a:spcBef>
            </a:pPr>
            <a:r>
              <a:rPr lang="en-US" sz="3000" dirty="0"/>
              <a:t>Most customer reviews are in the higher ratings, with 154 reviews at 4 stars and 138 reviews at 5 stars, indicating overall positive feedback. Lower ratings (1-2 stars) account for a smaller proportion, with 27 reviews at 1 star and 60 reviews at 2 stars</a:t>
            </a:r>
          </a:p>
          <a:p>
            <a:pPr marL="0" indent="0">
              <a:lnSpc>
                <a:spcPct val="170000"/>
              </a:lnSpc>
              <a:spcAft>
                <a:spcPts val="600"/>
              </a:spcAft>
              <a:buNone/>
            </a:pPr>
            <a:r>
              <a:rPr lang="en-US" sz="3700" b="1" dirty="0"/>
              <a:t>Sentiment Analysis</a:t>
            </a:r>
          </a:p>
          <a:p>
            <a:pPr>
              <a:lnSpc>
                <a:spcPct val="120000"/>
              </a:lnSpc>
              <a:spcBef>
                <a:spcPts val="0"/>
              </a:spcBef>
            </a:pPr>
            <a:r>
              <a:rPr lang="en-US" sz="3000" dirty="0"/>
              <a:t>Positive sentiment dominates with 292 reviews, reflecting a generally satisfied customer base. Negative sentiment is present in 81 reviews, with a smaller number of mixed and neutral sentiments, suggesting some areas for improvement but overall strong customer approval</a:t>
            </a:r>
          </a:p>
          <a:p>
            <a:pPr marL="0" indent="0">
              <a:lnSpc>
                <a:spcPct val="170000"/>
              </a:lnSpc>
              <a:spcAft>
                <a:spcPts val="600"/>
              </a:spcAft>
              <a:buNone/>
            </a:pPr>
            <a:r>
              <a:rPr lang="en-US" sz="3700" b="1" dirty="0"/>
              <a:t>Opportunity for Improvement</a:t>
            </a:r>
          </a:p>
          <a:p>
            <a:pPr>
              <a:lnSpc>
                <a:spcPct val="120000"/>
              </a:lnSpc>
              <a:spcBef>
                <a:spcPts val="0"/>
              </a:spcBef>
            </a:pPr>
            <a:r>
              <a:rPr lang="en-US" sz="3000" dirty="0"/>
              <a:t>The presence of mixed positive and mixed negative sentiments suggests that there are opportunities to convert those mixed experiences into more clearly positive ones, potentially boosting overall ratings. Addressing the specific concerns in mixed reviews could elevate customer satisfaction</a:t>
            </a:r>
            <a:endParaRPr lang="nb-NO" sz="3000" dirty="0"/>
          </a:p>
        </p:txBody>
      </p:sp>
      <p:pic>
        <p:nvPicPr>
          <p:cNvPr id="5" name="Picture 4">
            <a:extLst>
              <a:ext uri="{FF2B5EF4-FFF2-40B4-BE49-F238E27FC236}">
                <a16:creationId xmlns:a16="http://schemas.microsoft.com/office/drawing/2014/main" id="{4E8D20B7-3CF0-0D27-7C36-F6414F5448ED}"/>
              </a:ext>
            </a:extLst>
          </p:cNvPr>
          <p:cNvPicPr>
            <a:picLocks noChangeAspect="1"/>
          </p:cNvPicPr>
          <p:nvPr/>
        </p:nvPicPr>
        <p:blipFill>
          <a:blip r:embed="rId2"/>
          <a:stretch>
            <a:fillRect/>
          </a:stretch>
        </p:blipFill>
        <p:spPr>
          <a:xfrm>
            <a:off x="7225962" y="1792673"/>
            <a:ext cx="3086510" cy="2120732"/>
          </a:xfrm>
          <a:prstGeom prst="rect">
            <a:avLst/>
          </a:prstGeom>
        </p:spPr>
      </p:pic>
      <p:pic>
        <p:nvPicPr>
          <p:cNvPr id="9" name="Picture 8">
            <a:extLst>
              <a:ext uri="{FF2B5EF4-FFF2-40B4-BE49-F238E27FC236}">
                <a16:creationId xmlns:a16="http://schemas.microsoft.com/office/drawing/2014/main" id="{FEE3E1B4-77BA-84C8-358B-C6B84F55833B}"/>
              </a:ext>
            </a:extLst>
          </p:cNvPr>
          <p:cNvPicPr>
            <a:picLocks noChangeAspect="1"/>
          </p:cNvPicPr>
          <p:nvPr/>
        </p:nvPicPr>
        <p:blipFill>
          <a:blip r:embed="rId3"/>
          <a:srcRect t="3512"/>
          <a:stretch>
            <a:fillRect/>
          </a:stretch>
        </p:blipFill>
        <p:spPr>
          <a:xfrm>
            <a:off x="7225962" y="4015390"/>
            <a:ext cx="3086510" cy="1916689"/>
          </a:xfrm>
          <a:prstGeom prst="rect">
            <a:avLst/>
          </a:prstGeom>
        </p:spPr>
      </p:pic>
    </p:spTree>
    <p:extLst>
      <p:ext uri="{BB962C8B-B14F-4D97-AF65-F5344CB8AC3E}">
        <p14:creationId xmlns:p14="http://schemas.microsoft.com/office/powerpoint/2010/main" val="10083021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1BB6A6-744C-74B5-068C-31DF311F2E42}"/>
              </a:ext>
            </a:extLst>
          </p:cNvPr>
          <p:cNvSpPr>
            <a:spLocks noGrp="1"/>
          </p:cNvSpPr>
          <p:nvPr>
            <p:ph type="title"/>
          </p:nvPr>
        </p:nvSpPr>
        <p:spPr/>
        <p:txBody>
          <a:bodyPr/>
          <a:lstStyle/>
          <a:p>
            <a:r>
              <a:rPr lang="nb-NO" dirty="0"/>
              <a:t>Goals and Actions</a:t>
            </a:r>
          </a:p>
        </p:txBody>
      </p:sp>
      <p:sp>
        <p:nvSpPr>
          <p:cNvPr id="7" name="Text Placeholder 6">
            <a:extLst>
              <a:ext uri="{FF2B5EF4-FFF2-40B4-BE49-F238E27FC236}">
                <a16:creationId xmlns:a16="http://schemas.microsoft.com/office/drawing/2014/main" id="{6DB5C43B-E784-C9BD-AFBF-26FC1D8FD751}"/>
              </a:ext>
            </a:extLst>
          </p:cNvPr>
          <p:cNvSpPr>
            <a:spLocks noGrp="1"/>
          </p:cNvSpPr>
          <p:nvPr>
            <p:ph type="body" idx="1"/>
          </p:nvPr>
        </p:nvSpPr>
        <p:spPr>
          <a:xfrm>
            <a:off x="839788" y="1323355"/>
            <a:ext cx="5157787" cy="823912"/>
          </a:xfrm>
        </p:spPr>
        <p:txBody>
          <a:bodyPr/>
          <a:lstStyle/>
          <a:p>
            <a:r>
              <a:rPr lang="en-US" dirty="0"/>
              <a:t>Goals</a:t>
            </a:r>
            <a:endParaRPr lang="nb-NO" dirty="0"/>
          </a:p>
        </p:txBody>
      </p:sp>
      <p:sp>
        <p:nvSpPr>
          <p:cNvPr id="5" name="Content Placeholder 4">
            <a:extLst>
              <a:ext uri="{FF2B5EF4-FFF2-40B4-BE49-F238E27FC236}">
                <a16:creationId xmlns:a16="http://schemas.microsoft.com/office/drawing/2014/main" id="{078AD1BC-ECB0-8FAC-B8AF-195F4DF85279}"/>
              </a:ext>
            </a:extLst>
          </p:cNvPr>
          <p:cNvSpPr>
            <a:spLocks noGrp="1"/>
          </p:cNvSpPr>
          <p:nvPr>
            <p:ph sz="half" idx="2"/>
          </p:nvPr>
        </p:nvSpPr>
        <p:spPr>
          <a:xfrm>
            <a:off x="839788" y="2083242"/>
            <a:ext cx="5157787" cy="4409633"/>
          </a:xfrm>
        </p:spPr>
        <p:txBody>
          <a:bodyPr>
            <a:normAutofit fontScale="40000" lnSpcReduction="20000"/>
          </a:bodyPr>
          <a:lstStyle/>
          <a:p>
            <a:pPr marL="0" indent="0">
              <a:lnSpc>
                <a:spcPct val="170000"/>
              </a:lnSpc>
              <a:buNone/>
            </a:pPr>
            <a:r>
              <a:rPr lang="en-US" sz="3000" b="1" dirty="0"/>
              <a:t>Increase Conversion Rates</a:t>
            </a:r>
          </a:p>
          <a:p>
            <a:pPr>
              <a:lnSpc>
                <a:spcPct val="120000"/>
              </a:lnSpc>
            </a:pPr>
            <a:r>
              <a:rPr lang="en-US" sz="3000" b="1" dirty="0"/>
              <a:t>Goal: </a:t>
            </a:r>
            <a:r>
              <a:rPr lang="en-US" sz="3000" dirty="0"/>
              <a:t>Identify factors impacting the conversion rate and provide recommendations to improve it</a:t>
            </a:r>
          </a:p>
          <a:p>
            <a:pPr>
              <a:lnSpc>
                <a:spcPct val="120000"/>
              </a:lnSpc>
            </a:pPr>
            <a:r>
              <a:rPr lang="en-US" sz="3000" b="1" dirty="0"/>
              <a:t>Insight: </a:t>
            </a:r>
            <a:r>
              <a:rPr lang="en-US" sz="3000" dirty="0"/>
              <a:t>Highlight key stages where visitors drop off and suggest improvements to optimize the conversion funnel</a:t>
            </a:r>
          </a:p>
          <a:p>
            <a:pPr marL="0" indent="0">
              <a:lnSpc>
                <a:spcPct val="170000"/>
              </a:lnSpc>
              <a:buNone/>
            </a:pPr>
            <a:r>
              <a:rPr lang="en-US" sz="3000" b="1" dirty="0"/>
              <a:t>Enhance Customer Engagement</a:t>
            </a:r>
            <a:endParaRPr lang="en-US" sz="3000" dirty="0"/>
          </a:p>
          <a:p>
            <a:pPr>
              <a:lnSpc>
                <a:spcPct val="120000"/>
              </a:lnSpc>
            </a:pPr>
            <a:r>
              <a:rPr lang="en-US" sz="3000" b="1" dirty="0"/>
              <a:t>Goal:</a:t>
            </a:r>
            <a:r>
              <a:rPr lang="en-US" sz="3000" dirty="0"/>
              <a:t> Determine which types of content drive the highest engagement. </a:t>
            </a:r>
          </a:p>
          <a:p>
            <a:pPr>
              <a:lnSpc>
                <a:spcPct val="120000"/>
              </a:lnSpc>
            </a:pPr>
            <a:r>
              <a:rPr lang="en-US" sz="3000" b="1" dirty="0"/>
              <a:t>Insight:</a:t>
            </a:r>
            <a:r>
              <a:rPr lang="en-US" sz="3000" dirty="0"/>
              <a:t> Analyze interaction levels with different types of marketing content to inform better content strategies</a:t>
            </a:r>
          </a:p>
          <a:p>
            <a:pPr marL="0" indent="0">
              <a:lnSpc>
                <a:spcPct val="170000"/>
              </a:lnSpc>
              <a:buNone/>
            </a:pPr>
            <a:r>
              <a:rPr lang="en-US" sz="3000" b="1" dirty="0"/>
              <a:t>Improve Customer Feedback Scores</a:t>
            </a:r>
            <a:endParaRPr lang="en-US" sz="3000" dirty="0"/>
          </a:p>
          <a:p>
            <a:pPr>
              <a:lnSpc>
                <a:spcPct val="120000"/>
              </a:lnSpc>
            </a:pPr>
            <a:r>
              <a:rPr lang="en-US" sz="3000" b="1" dirty="0"/>
              <a:t>Goal:</a:t>
            </a:r>
            <a:r>
              <a:rPr lang="en-US" sz="3000" dirty="0"/>
              <a:t> Understand common themes in customer reviews and provide actionable insights</a:t>
            </a:r>
          </a:p>
          <a:p>
            <a:pPr>
              <a:lnSpc>
                <a:spcPct val="120000"/>
              </a:lnSpc>
            </a:pPr>
            <a:r>
              <a:rPr lang="en-US" sz="3000" b="1" dirty="0"/>
              <a:t>Insight:</a:t>
            </a:r>
            <a:r>
              <a:rPr lang="en-US" sz="3000" dirty="0"/>
              <a:t> Identify recurring positive and negative feedback to guide product and service improvements</a:t>
            </a:r>
          </a:p>
        </p:txBody>
      </p:sp>
      <p:sp>
        <p:nvSpPr>
          <p:cNvPr id="8" name="Text Placeholder 7">
            <a:extLst>
              <a:ext uri="{FF2B5EF4-FFF2-40B4-BE49-F238E27FC236}">
                <a16:creationId xmlns:a16="http://schemas.microsoft.com/office/drawing/2014/main" id="{D493FBA5-1FCE-4950-5EC5-479C0DE4BFE7}"/>
              </a:ext>
            </a:extLst>
          </p:cNvPr>
          <p:cNvSpPr>
            <a:spLocks noGrp="1"/>
          </p:cNvSpPr>
          <p:nvPr>
            <p:ph type="body" sz="quarter" idx="3"/>
          </p:nvPr>
        </p:nvSpPr>
        <p:spPr>
          <a:xfrm>
            <a:off x="6172200" y="1323355"/>
            <a:ext cx="5183188" cy="823912"/>
          </a:xfrm>
        </p:spPr>
        <p:txBody>
          <a:bodyPr/>
          <a:lstStyle/>
          <a:p>
            <a:r>
              <a:rPr lang="en-US" dirty="0"/>
              <a:t>Actions</a:t>
            </a:r>
            <a:endParaRPr lang="nb-NO" dirty="0"/>
          </a:p>
        </p:txBody>
      </p:sp>
      <p:sp>
        <p:nvSpPr>
          <p:cNvPr id="9" name="Content Placeholder 8">
            <a:extLst>
              <a:ext uri="{FF2B5EF4-FFF2-40B4-BE49-F238E27FC236}">
                <a16:creationId xmlns:a16="http://schemas.microsoft.com/office/drawing/2014/main" id="{8BB130CF-2DD1-4F93-32BF-851910EF2C22}"/>
              </a:ext>
            </a:extLst>
          </p:cNvPr>
          <p:cNvSpPr>
            <a:spLocks noGrp="1"/>
          </p:cNvSpPr>
          <p:nvPr>
            <p:ph sz="quarter" idx="4"/>
          </p:nvPr>
        </p:nvSpPr>
        <p:spPr>
          <a:xfrm>
            <a:off x="6172200" y="2147267"/>
            <a:ext cx="5183188" cy="4569792"/>
          </a:xfrm>
        </p:spPr>
        <p:txBody>
          <a:bodyPr>
            <a:noAutofit/>
          </a:bodyPr>
          <a:lstStyle/>
          <a:p>
            <a:pPr marL="0" indent="0">
              <a:lnSpc>
                <a:spcPct val="120000"/>
              </a:lnSpc>
              <a:buNone/>
            </a:pPr>
            <a:r>
              <a:rPr lang="nb-NO" sz="1200" b="1" dirty="0"/>
              <a:t>Increase Conversion Rates</a:t>
            </a:r>
          </a:p>
          <a:p>
            <a:pPr>
              <a:lnSpc>
                <a:spcPct val="120000"/>
              </a:lnSpc>
            </a:pPr>
            <a:r>
              <a:rPr lang="en-US" sz="1100" u="sng" dirty="0"/>
              <a:t>Target High-Performing Product Categories</a:t>
            </a:r>
            <a:r>
              <a:rPr lang="en-US" sz="1100" dirty="0"/>
              <a:t>: Focus marketing efforts on products with demonstrated high conversion rates, such as Climbing Rope, Surfboard, Hockey Stick and Cycling Helmet. Implement seasonal promotions or personalized campaigns during peak months (e.g. December and September) to capitalize on these trends</a:t>
            </a:r>
            <a:endParaRPr lang="nb-NO" sz="1100" dirty="0"/>
          </a:p>
          <a:p>
            <a:pPr marL="0" indent="0">
              <a:lnSpc>
                <a:spcPct val="120000"/>
              </a:lnSpc>
              <a:buNone/>
            </a:pPr>
            <a:r>
              <a:rPr lang="nb-NO" sz="1200" b="1" dirty="0"/>
              <a:t>Enhance Customer Engagement</a:t>
            </a:r>
          </a:p>
          <a:p>
            <a:pPr>
              <a:lnSpc>
                <a:spcPct val="120000"/>
              </a:lnSpc>
            </a:pPr>
            <a:r>
              <a:rPr lang="en-US" sz="1100" u="sng" dirty="0"/>
              <a:t>Revitalize Content Strategy</a:t>
            </a:r>
            <a:r>
              <a:rPr lang="en-US" sz="1100" dirty="0"/>
              <a:t>: To turn around declining views and low interaction rates, experiment with more engaging content formats, such as interactive videos or user-generated content. Additionally, boost engagement by optimizing call-to-action placement in social media and blog content</a:t>
            </a:r>
            <a:endParaRPr lang="nb-NO" sz="1100" dirty="0"/>
          </a:p>
          <a:p>
            <a:pPr marL="0" indent="0">
              <a:lnSpc>
                <a:spcPct val="120000"/>
              </a:lnSpc>
              <a:buNone/>
            </a:pPr>
            <a:r>
              <a:rPr lang="nb-NO" sz="1200" b="1" dirty="0"/>
              <a:t>Improve Customer Feedback Scores</a:t>
            </a:r>
          </a:p>
          <a:p>
            <a:pPr>
              <a:lnSpc>
                <a:spcPct val="120000"/>
              </a:lnSpc>
            </a:pPr>
            <a:r>
              <a:rPr lang="en-US" sz="1100" u="sng" dirty="0"/>
              <a:t>Address Mixed and Negative Feedback: </a:t>
            </a:r>
            <a:r>
              <a:rPr lang="en-US" sz="1100" dirty="0"/>
              <a:t>Implement a feedback loop where mixed and negative reviews are analyzed to identify common issues. Develop improvement plans to address these concerns. Consider following up with dissatisfied customers to resolve issues and encourage re-rating, aiming to move average ratings closer to the 4.0 target</a:t>
            </a:r>
            <a:endParaRPr lang="nb-NO" sz="1100" dirty="0"/>
          </a:p>
        </p:txBody>
      </p:sp>
    </p:spTree>
    <p:extLst>
      <p:ext uri="{BB962C8B-B14F-4D97-AF65-F5344CB8AC3E}">
        <p14:creationId xmlns:p14="http://schemas.microsoft.com/office/powerpoint/2010/main" val="758644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1304</TotalTime>
  <Words>740</Words>
  <Application>Microsoft Office PowerPoint</Application>
  <PresentationFormat>Widescreen</PresentationFormat>
  <Paragraphs>61</Paragraphs>
  <Slides>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Aptos</vt:lpstr>
      <vt:lpstr>Aptos Display</vt:lpstr>
      <vt:lpstr>Arial</vt:lpstr>
      <vt:lpstr>Office Theme</vt:lpstr>
      <vt:lpstr>Data Presentation</vt:lpstr>
      <vt:lpstr>Overview - 2025 Marketing Performance</vt:lpstr>
      <vt:lpstr>Conversion Rates</vt:lpstr>
      <vt:lpstr>Reduced Customer Engagement</vt:lpstr>
      <vt:lpstr>Customer Feedback Analysis</vt:lpstr>
      <vt:lpstr>Goals and Actions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 Ahmad</dc:creator>
  <cp:lastModifiedBy>Neil Robins</cp:lastModifiedBy>
  <cp:revision>3</cp:revision>
  <dcterms:created xsi:type="dcterms:W3CDTF">2024-09-03T15:16:05Z</dcterms:created>
  <dcterms:modified xsi:type="dcterms:W3CDTF">2026-03-06T10:01:16Z</dcterms:modified>
</cp:coreProperties>
</file>